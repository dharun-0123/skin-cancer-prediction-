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8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3" r:id="rId11"/>
    <p:sldId id="288" r:id="rId12"/>
    <p:sldId id="294" r:id="rId13"/>
    <p:sldId id="265" r:id="rId14"/>
    <p:sldId id="266" r:id="rId15"/>
    <p:sldId id="290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91" r:id="rId30"/>
    <p:sldId id="280" r:id="rId31"/>
    <p:sldId id="281" r:id="rId32"/>
    <p:sldId id="282" r:id="rId33"/>
    <p:sldId id="283" r:id="rId34"/>
    <p:sldId id="286" r:id="rId35"/>
    <p:sldId id="28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581" y="4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B4EF7-CE80-47A1-A8B1-141BAC551B1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DC97D-33B0-4CEC-964D-92A146BD3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DC97D-33B0-4CEC-964D-92A146BD33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6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3F257E-75E6-4B9A-9E6E-7955A6826D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400376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"/>
          <p:cNvSpPr/>
          <p:nvPr/>
        </p:nvSpPr>
        <p:spPr>
          <a:xfrm>
            <a:off x="0" y="748800"/>
            <a:ext cx="12191760" cy="2253240"/>
          </a:xfrm>
          <a:prstGeom prst="rect">
            <a:avLst/>
          </a:prstGeom>
          <a:pattFill prst="solidDmnd">
            <a:fgClr>
              <a:schemeClr val="accent4"/>
            </a:fgClr>
            <a:bgClr>
              <a:srgbClr val="7030A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234543" y="1597624"/>
            <a:ext cx="11722608" cy="677108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bg1">
                    <a:lumMod val="95000"/>
                  </a:schemeClr>
                </a:solidFill>
                <a:effectLst/>
                <a:highlight>
                  <a:srgbClr val="000000"/>
                </a:highlight>
                <a:uFillTx/>
                <a:latin typeface="Cambria"/>
                <a:ea typeface="Cambria"/>
              </a:rPr>
              <a:t>AI-Powered Skin Lesion Recognition System </a:t>
            </a:r>
          </a:p>
        </p:txBody>
      </p:sp>
      <p:sp>
        <p:nvSpPr>
          <p:cNvPr id="62" name="TextBox 11"/>
          <p:cNvSpPr/>
          <p:nvPr/>
        </p:nvSpPr>
        <p:spPr>
          <a:xfrm>
            <a:off x="1400039" y="3420360"/>
            <a:ext cx="9685649" cy="27084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u="none" strike="noStrike" dirty="0">
                <a:solidFill>
                  <a:schemeClr val="bg1">
                    <a:lumMod val="95000"/>
                  </a:schemeClr>
                </a:solidFill>
                <a:effectLst/>
                <a:uFillTx/>
                <a:latin typeface="Cambria"/>
                <a:ea typeface="Cambria"/>
              </a:rPr>
              <a:t>DHARUN PRASATH M</a:t>
            </a:r>
            <a:endParaRPr lang="en-US" sz="2800" b="0" u="none" strike="noStrike" dirty="0">
              <a:solidFill>
                <a:schemeClr val="bg1">
                  <a:lumMod val="95000"/>
                </a:schemeClr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bg1">
                    <a:lumMod val="95000"/>
                  </a:schemeClr>
                </a:solidFill>
                <a:effectLst/>
                <a:uFillTx/>
                <a:latin typeface="Cambria"/>
                <a:ea typeface="Cambria"/>
              </a:rPr>
              <a:t>24MCA19</a:t>
            </a:r>
            <a:endParaRPr lang="en-US" sz="2000" b="0" u="none" strike="noStrike" dirty="0">
              <a:solidFill>
                <a:schemeClr val="bg1">
                  <a:lumMod val="95000"/>
                </a:schemeClr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bg1">
                    <a:lumMod val="95000"/>
                  </a:schemeClr>
                </a:solidFill>
                <a:effectLst/>
                <a:uFillTx/>
                <a:latin typeface="Cambria"/>
                <a:ea typeface="Cambria"/>
              </a:rPr>
              <a:t> </a:t>
            </a:r>
            <a:endParaRPr lang="en-US" sz="2000" b="0" u="none" strike="noStrike" dirty="0">
              <a:solidFill>
                <a:schemeClr val="bg1">
                  <a:lumMod val="95000"/>
                </a:schemeClr>
              </a:solidFill>
              <a:effectLst/>
              <a:uFillTx/>
              <a:latin typeface="Arial"/>
            </a:endParaRPr>
          </a:p>
          <a:p>
            <a:pPr algn="ctr" defTabSz="914400"/>
            <a:r>
              <a:rPr lang="en-US" sz="2000" b="0" u="none" strike="noStrike" dirty="0">
                <a:solidFill>
                  <a:schemeClr val="bg1">
                    <a:lumMod val="95000"/>
                  </a:schemeClr>
                </a:solidFill>
                <a:effectLst/>
                <a:uFillTx/>
                <a:latin typeface="Cambria"/>
                <a:ea typeface="Cambria"/>
              </a:rPr>
              <a:t>Under the Guidance of </a:t>
            </a:r>
          </a:p>
          <a:p>
            <a:pPr algn="ctr" defTabSz="914400"/>
            <a:endParaRPr lang="en-US" sz="2000" b="0" u="none" strike="noStrike" dirty="0">
              <a:solidFill>
                <a:schemeClr val="bg1">
                  <a:lumMod val="95000"/>
                </a:schemeClr>
              </a:solidFill>
              <a:effectLst/>
              <a:uFillTx/>
              <a:latin typeface="Cambria"/>
              <a:ea typeface="Cambria"/>
            </a:endParaRPr>
          </a:p>
          <a:p>
            <a:pPr algn="ctr" defTabSz="914400"/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Mr. Alwin </a:t>
            </a:r>
            <a:r>
              <a:rPr lang="en-US" sz="2800" b="1" dirty="0" err="1">
                <a:solidFill>
                  <a:schemeClr val="bg1">
                    <a:lumMod val="95000"/>
                  </a:schemeClr>
                </a:solidFill>
              </a:rPr>
              <a:t>Pinakas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 James M.Sc., M.Phil., (</a:t>
            </a:r>
            <a:r>
              <a:rPr lang="en-US" sz="2800" b="1" dirty="0" err="1">
                <a:solidFill>
                  <a:schemeClr val="bg1">
                    <a:lumMod val="95000"/>
                  </a:schemeClr>
                </a:solidFill>
              </a:rPr>
              <a:t>Ph.D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).</a:t>
            </a:r>
            <a:endParaRPr lang="en-US" sz="2800" b="1" u="none" strike="noStrike" dirty="0">
              <a:solidFill>
                <a:schemeClr val="bg1">
                  <a:lumMod val="95000"/>
                </a:schemeClr>
              </a:solidFill>
              <a:effectLst/>
              <a:uFillTx/>
              <a:latin typeface="Arial"/>
            </a:endParaRPr>
          </a:p>
          <a:p>
            <a:pPr algn="ctr" defTabSz="914400"/>
            <a:endParaRPr lang="en-US" sz="2000" b="1" u="none" strike="noStrike" dirty="0">
              <a:solidFill>
                <a:schemeClr val="dk1"/>
              </a:solidFill>
              <a:effectLst/>
              <a:uFillTx/>
              <a:latin typeface="Cambria"/>
              <a:ea typeface="Cambria"/>
            </a:endParaRPr>
          </a:p>
          <a:p>
            <a:pPr algn="ctr" defTabSz="914400"/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Head of the Department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E9B01E-07DD-2DBF-8387-0A9B8274A4B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Diamond 6"/>
          <p:cNvSpPr/>
          <p:nvPr/>
        </p:nvSpPr>
        <p:spPr>
          <a:xfrm>
            <a:off x="5377680" y="3240"/>
            <a:ext cx="1436400" cy="1436400"/>
          </a:xfrm>
          <a:prstGeom prst="diamond">
            <a:avLst/>
          </a:prstGeom>
          <a:solidFill>
            <a:srgbClr val="FFAD5A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63" name="Picture 2"/>
          <p:cNvPicPr/>
          <p:nvPr/>
        </p:nvPicPr>
        <p:blipFill>
          <a:blip r:embed="rId2"/>
          <a:stretch/>
        </p:blipFill>
        <p:spPr>
          <a:xfrm>
            <a:off x="4855680" y="282600"/>
            <a:ext cx="2480400" cy="87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8553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dirty="0"/>
              <a:t>Presentation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3132"/>
            <a:ext cx="10972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 Existing System 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Proposed System 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Objectives &amp; Scope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System Architecture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Dataset Information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Machine Learning Models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Technology Stack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Features &amp; Functionality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Results &amp; Performance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Demo &amp; Future Enhancements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32321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lang="en-US" dirty="0"/>
              <a:t>Existing System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Skin cancer is one of the most common cancers globally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Over 5 million cases diagnosed annually in the US alone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Early detection crucial: 99% survival rate vs 27% for late-stage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Limited access to dermatologists in many regions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Long wait times delay critical diagnoses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Professional screenings can be expensive and inaccessible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Different skin conditions appear similar to untrained eyes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5746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lang="en-US" dirty="0"/>
              <a:t>Proposed System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AI-powered preliminary screening tool for skin lesions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Instant analysis using deep learning models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Classification into 8 different skin condition categories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Confidence scoring for prediction reliability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Educational information about detected conditions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Analysis history tracking for monitoring changes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Professional PDF reports for medical consultations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dirty="0"/>
              <a:t>• AI chatbot (</a:t>
            </a:r>
            <a:r>
              <a:rPr dirty="0" err="1"/>
              <a:t>DermaGenie</a:t>
            </a:r>
            <a:r>
              <a:rPr dirty="0"/>
              <a:t>) for skin health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rPr dirty="0"/>
              <a:t>Primary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Develop accurate deep learning model for skin lesion classification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Create user-friendly web interface for image upload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Implement secure user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Provide educational information about conditions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Generate professional reports for consultations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Secondary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Implement analytics dashboard for trends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Develop AI chatbot for skin health guidance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Enable comparison of multiple analyses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Ensure mobile responsiveness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Maintain legal compliance with disclaimers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48923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444416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dirty="0"/>
              <a:t>System</a:t>
            </a:r>
            <a:r>
              <a:rPr lang="en-US" dirty="0"/>
              <a:t> Requirements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96851" y="2058531"/>
            <a:ext cx="4663440" cy="240065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Processor: Intel Core i5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RAM: 8 GB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Storage: 10 GB free space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Internet connection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EC4A8E-7D95-844B-4C68-9588DCC183B6}"/>
              </a:ext>
            </a:extLst>
          </p:cNvPr>
          <p:cNvSpPr txBox="1"/>
          <p:nvPr/>
        </p:nvSpPr>
        <p:spPr>
          <a:xfrm>
            <a:off x="5904359" y="1580593"/>
            <a:ext cx="5791172" cy="486287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Operating System: Windows / Linux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Programming Language: Python 3.10+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Web Framework: Django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ML Frameworks: TensorFlow, </a:t>
            </a:r>
            <a:r>
              <a:rPr lang="en-US" dirty="0" err="1"/>
              <a:t>Keras</a:t>
            </a:r>
            <a:endParaRPr lang="en-US" dirty="0"/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Database: SQLite (development)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Frontend: HTML, CSS, JavaScript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Development Tools: VS Code 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RAM: 8 GB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Storage: 10 GB free space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rPr lang="en-US" dirty="0"/>
              <a:t>• Internet connection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0FA11-9FF0-C608-54D6-5B7B2ACF37F5}"/>
              </a:ext>
            </a:extLst>
          </p:cNvPr>
          <p:cNvSpPr txBox="1"/>
          <p:nvPr/>
        </p:nvSpPr>
        <p:spPr>
          <a:xfrm>
            <a:off x="5904359" y="750481"/>
            <a:ext cx="37003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rPr lang="en-US" sz="2800" dirty="0"/>
              <a:t>Software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A5F58-F2B6-2E4A-407A-0BBF1926B8AB}"/>
              </a:ext>
            </a:extLst>
          </p:cNvPr>
          <p:cNvSpPr txBox="1"/>
          <p:nvPr/>
        </p:nvSpPr>
        <p:spPr>
          <a:xfrm>
            <a:off x="896851" y="1273701"/>
            <a:ext cx="38194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rPr lang="en-US" sz="2800" dirty="0"/>
              <a:t>Hardware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EA2C-9C81-A5F5-ECBA-5429537D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1CE316-2607-CAD8-7AEF-438C83E7F2A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DBFE51-6D2E-C66C-CC38-CCBBB29AF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103" y="109381"/>
            <a:ext cx="8174897" cy="67306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FBDEE9-4E2F-2C20-B058-6274EDC7FA01}"/>
              </a:ext>
            </a:extLst>
          </p:cNvPr>
          <p:cNvSpPr txBox="1"/>
          <p:nvPr/>
        </p:nvSpPr>
        <p:spPr>
          <a:xfrm>
            <a:off x="691976" y="399888"/>
            <a:ext cx="2814488" cy="5632311"/>
          </a:xfrm>
          <a:prstGeom prst="rect">
            <a:avLst/>
          </a:prstGeom>
          <a:noFill/>
        </p:spPr>
        <p:txBody>
          <a:bodyPr vert="vert270" wrap="square">
            <a:norm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rPr lang="en-US" dirty="0"/>
              <a:t>Architectural  Diagram 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83EFA6-4100-0FC3-630A-147FEF64E87F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1824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D503-D047-F3CD-F150-34631C4E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29AA57-1ED1-B2F9-80D1-96FA0934D0B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D66694-A2F5-1B93-690B-25D864F71EF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A9383-F4E3-BE05-2C1F-4C0235342784}"/>
              </a:ext>
            </a:extLst>
          </p:cNvPr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FCDE1-379C-EB71-86E9-218521CDB4F7}"/>
              </a:ext>
            </a:extLst>
          </p:cNvPr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Client Layer: Browser-based access (Desktop, Mobile, Tablet)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Web Server Layer: Django Web Server with Views &amp; Templates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Application Layer: User Management, Image Processing, Email Service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ML/AI Layer: TensorFlow/Keras with Dual Model System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Data Layer: SQLite Database + File Storage for images/models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External Services: Resend (Email), Perplexity AI (Chatbot)</a:t>
            </a:r>
          </a:p>
        </p:txBody>
      </p:sp>
    </p:spTree>
    <p:extLst>
      <p:ext uri="{BB962C8B-B14F-4D97-AF65-F5344CB8AC3E}">
        <p14:creationId xmlns:p14="http://schemas.microsoft.com/office/powerpoint/2010/main" val="47954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2447A-FA56-9F3A-F984-E179916D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C156E-11E5-3E25-65AD-F17B69867A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88B830-2944-2A54-28BD-A3FB4CAE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20" y="861274"/>
            <a:ext cx="8722254" cy="59967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75F059-45F1-ED6A-AC6B-E77F249F85E0}"/>
              </a:ext>
            </a:extLst>
          </p:cNvPr>
          <p:cNvSpPr txBox="1"/>
          <p:nvPr/>
        </p:nvSpPr>
        <p:spPr>
          <a:xfrm>
            <a:off x="211816" y="129754"/>
            <a:ext cx="25346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lang="en-US" dirty="0"/>
              <a:t>DFD LEVEL 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819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dirty="0"/>
              <a:t>Data 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1. User uploads skin lesion image through web interface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2. Image preprocessing: Resizing, Normalization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3. Model selection based on user preference or auto mode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4. Primary Model (EfficientNetB0) processes image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5. Confidence check - if low, fallback to Secondary Model (CNN)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6. Result formatting with legal compliance checks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7. Display results with condition info and recommendations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8. Store prediction in database and send notification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Dataset Information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2AAD1-CC75-D2E7-8A48-88BA35D9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D98D1-5D3A-B5CD-6E5E-E37002FCFFA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4E8C3-837A-093A-1FBF-0188307A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0" y="1069843"/>
            <a:ext cx="10844794" cy="5422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4A345B-CC1D-9104-3EB0-C7ED6304EE49}"/>
              </a:ext>
            </a:extLst>
          </p:cNvPr>
          <p:cNvSpPr txBox="1"/>
          <p:nvPr/>
        </p:nvSpPr>
        <p:spPr>
          <a:xfrm>
            <a:off x="640080" y="365760"/>
            <a:ext cx="82217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dirty="0"/>
              <a:t>Primary Dataset: ISIC 2019</a:t>
            </a:r>
            <a:r>
              <a:rPr lang="en-US" dirty="0"/>
              <a:t> Sample images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751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dirty="0"/>
              <a:t>Primary Dataset: ISIC 2019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37160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Full Name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NV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Melanocytic Nevi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12,875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50.8%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MEL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Melanoma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4,522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BCC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Basal Cell Carcinoma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3,323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13.1%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BKL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Benign Keratosis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2,624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10.4%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AK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Actinic Keratoses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867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SCC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Squamous Cell Carcinoma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VASC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Vascular Lesions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DF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Dermatofibroma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Secondary Dataset: HAM10000 Subset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Base Source: HAM10000 (Human Against Machine with 10000 images)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Total Images: 5,906 dermoscopic images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License: CC BY-NC 4.0 (Open Source for Academic Use)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8 Classes: akiec, bcc, bkl, df, mel, nv, vasc + not_skin_cancer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Citation: Tschandl et al., Scientific Data, 2018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Preprocessing: Resizing, Normalization, Data Augmentation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Split: 70% Training / 15% Validation / 15% Testing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Machine Learning Models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Primary Model: EfficientNetB0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37160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EfficientNetB0 (Transfer Learning)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Input Shape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224 × 224 × 3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Output Classes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Total Parameters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~5.3 Million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71.32%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Training Epochs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Adam (LR: 0.0001)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Pre-trained On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ImageNet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Secondary Model: Custom CNN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37160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Custom Convolutional Neural Network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Input Shape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48 × 48 × 3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Output Classes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Total Parameters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~1.2 Million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Training Epochs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Adam (LR: 0.001)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Conv Layers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3 Blocks (32→64→128 filters)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Intelligent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User can choose: EfficientNetB0, CNN, or Auto Mode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Auto Mode Logic: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   → First, try EfficientNetB0 (larger, more robust)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   → Check confidence score of prediction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   → If confidence &gt; 50%, use EfficientNetB0 result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   → If confidence ≤ 50%, fallback to CNN model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Benefits: Combines strengths of both models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Result: More reliable predictions across diverse images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Technology Stack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Python 3.10+ (Primary Language)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Django 4.2.1 (Web Framework)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TensorFlow 2.13.0 (Deep Learning)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Keras 2.13.1 (Neural Network API)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SQLite (Database)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Pillow &amp; OpenCV (Image Processing)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Frontend &amp;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HTML5, CSS3, JavaScript (Frontend)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Chart.js (Data Visualization)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Resend API (Email Service)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Perplexity AI (Chatbot)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Git (Version Control)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Font Awesome (Icons)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Features &amp; Functionality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Skin Lesion Analysis: AI-powered classification of skin images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8 Condition Detection: Identifies 8 different skin conditions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Dual Model System: EfficientNetB0 + CNN for robust predictions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Confidence Scoring: Displays prediction confidence percentage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User Authentication: Secure registration with email verification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Password Reset: OTP-based secure password recovery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Analysis History: Track and review all past analyses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Advanced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User Profiles: Personal info, profile pictures, statistics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PDF Export: Generate professional reports for doctors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Comparison Tool: Compare multiple analyses side-by-side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Analytics Dashboard: Charts and trend analysis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DermaGenie AI: AI chatbot for skin health guidance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Admin Dashboard: System monitoring (staff only)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Email Notifications: Automated alerts and updates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Mobile Responsive: Works on all devices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Results &amp; Performance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Model Performance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EfficientNetB0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Custom CNN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71.32%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Input Size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224×224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48×48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5.3M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1.2M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Inference Time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~200ms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~50ms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Training Dataset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25,331 images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5,906 images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Complex cases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2E8F0"/>
                          </a:solidFill>
                        </a:defRPr>
                      </a:pPr>
                      <a:r>
                        <a:t>Quick screening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A96B-ACE2-C5A5-2966-06DE5380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06806F-C65C-2CB1-B8A3-B9FCBCA5E2E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5051BC-0DEC-1B1C-816E-A4DA2E8EEC73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006AF-8111-95CC-D268-4D6ECF2D6CB6}"/>
              </a:ext>
            </a:extLst>
          </p:cNvPr>
          <p:cNvSpPr txBox="1"/>
          <p:nvPr/>
        </p:nvSpPr>
        <p:spPr>
          <a:xfrm>
            <a:off x="640080" y="365760"/>
            <a:ext cx="41531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rPr dirty="0"/>
              <a:t>Model</a:t>
            </a:r>
            <a:r>
              <a:rPr lang="en-US" dirty="0"/>
              <a:t> Classification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F3EE6-79F3-CBCA-9A17-57F1A528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21" r="114" b="-2734"/>
          <a:stretch>
            <a:fillRect/>
          </a:stretch>
        </p:blipFill>
        <p:spPr>
          <a:xfrm>
            <a:off x="1805430" y="960431"/>
            <a:ext cx="7932307" cy="594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63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Key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Successfully deployed dual-model AI classification system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Achieved 94.1% accuracy on CNN model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Implemented secure OTP-based authentication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Created comprehensive analytics dashboard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Developed AI-powered chatbot (DermaGenie)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Built responsive UI with modern dark theme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Integrated professional PDF report generation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Ensured legal compliance with medical disclaimers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</a:defRPr>
            </a:pPr>
            <a:r>
              <a:t>Future Enhancements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Short-term (6 months)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Mobile Application (iOS/Android)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Multi-language Support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Enhanced Analytics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RESTful API Access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Batch Image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6B6D4"/>
                </a:solidFill>
              </a:defRPr>
            </a:pPr>
            <a:r>
              <a:t>Long-term (12+ 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Real-time Webcam Analysis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Telemedicine Integration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3D Skin Mapping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Predictive Risk Assessment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• Clinical EHR Integration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SkinCare AI provides accessible AI-powered skin cancer screening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Dual-model architecture ensures robust and reliable predictions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User-friendly interface makes technology accessible to everyone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Comprehensive features: History, Analytics, Reports, AI Chat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Encourages early detection and professional medical consultation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Built with modern technologies and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Potential to save lives through early skin cancer detection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ISIC Archive - International Skin Imaging Collaboration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HAM10000 Dataset - Tschandl et al., Scientific Data, 2018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EfficientNet: Rethinking Model Scaling for CNNs (Tan &amp; Le, 2019)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Django Documentation - docs.djangoproject.com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TensorFlow Documentation - tensorflow.org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Skin Cancer Foundation - skincancer.org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Kaggle - Skin Cancer MNIST: HAM10000 Dataset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2E8F0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6B6D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1424</Words>
  <Application>Microsoft Office PowerPoint</Application>
  <PresentationFormat>Widescreen</PresentationFormat>
  <Paragraphs>293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Light</vt:lpstr>
      <vt:lpstr>Cambria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dharun m</cp:lastModifiedBy>
  <cp:revision>4</cp:revision>
  <dcterms:created xsi:type="dcterms:W3CDTF">2013-01-27T09:14:16Z</dcterms:created>
  <dcterms:modified xsi:type="dcterms:W3CDTF">2026-01-30T16:25:20Z</dcterms:modified>
  <cp:category/>
</cp:coreProperties>
</file>